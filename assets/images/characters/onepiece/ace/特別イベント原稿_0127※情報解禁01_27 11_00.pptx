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7" r:id="rId2"/>
  </p:sldIdLst>
  <p:sldSz cx="9144000" cy="1810385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702">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unya Tod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2218AE-47B0-41FE-88BB-E6528348B9D3}">
  <a:tblStyle styleId="{332218AE-47B0-41FE-88BB-E6528348B9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BD95FBF-DD34-4CC7-B2BE-449F2E823AFC}" styleName="Table_1">
    <a:wholeTbl>
      <a:tcTxStyle>
        <a:font>
          <a:latin typeface="Arial"/>
          <a:ea typeface="Arial"/>
          <a:cs typeface="Arial"/>
        </a:font>
        <a:srgbClr val="000000"/>
      </a:tcTxStyle>
      <a:tcStyle>
        <a:tcBdr>
          <a:left>
            <a:ln cap="flat" cmpd="sng">
              <a:solidFill>
                <a:srgbClr val="808080"/>
              </a:solidFill>
              <a:prstDash val="solid"/>
              <a:round/>
              <a:headEnd type="none" w="sm" len="sm"/>
              <a:tailEnd type="none" w="sm" len="sm"/>
            </a:ln>
          </a:left>
          <a:right>
            <a:ln cap="flat" cmpd="sng">
              <a:solidFill>
                <a:srgbClr val="808080"/>
              </a:solidFill>
              <a:prstDash val="solid"/>
              <a:round/>
              <a:headEnd type="none" w="sm" len="sm"/>
              <a:tailEnd type="none" w="sm" len="sm"/>
            </a:ln>
          </a:right>
          <a:top>
            <a:ln cap="flat" cmpd="sng">
              <a:solidFill>
                <a:srgbClr val="808080"/>
              </a:solidFill>
              <a:prstDash val="solid"/>
              <a:round/>
              <a:headEnd type="none" w="sm" len="sm"/>
              <a:tailEnd type="none" w="sm" len="sm"/>
            </a:ln>
          </a:top>
          <a:bottom>
            <a:ln cap="flat" cmpd="sng">
              <a:solidFill>
                <a:srgbClr val="808080"/>
              </a:solidFill>
              <a:prstDash val="solid"/>
              <a:round/>
              <a:headEnd type="none" w="sm" len="sm"/>
              <a:tailEnd type="none" w="sm" len="sm"/>
            </a:ln>
          </a:bottom>
          <a:insideH>
            <a:ln cap="flat" cmpd="sng">
              <a:solidFill>
                <a:srgbClr val="808080"/>
              </a:solidFill>
              <a:prstDash val="solid"/>
              <a:round/>
              <a:headEnd type="none" w="sm" len="sm"/>
              <a:tailEnd type="none" w="sm" len="sm"/>
            </a:ln>
          </a:insideH>
          <a:insideV>
            <a:ln cap="flat" cmpd="sng">
              <a:solidFill>
                <a:srgbClr val="808080"/>
              </a:solidFill>
              <a:prstDash val="solid"/>
              <a:round/>
              <a:headEnd type="none" w="sm" len="sm"/>
              <a:tailEnd type="none" w="sm" len="sm"/>
            </a:ln>
          </a:insideV>
        </a:tcBdr>
        <a:fill>
          <a:solidFill>
            <a:srgbClr val="FFFFFF"/>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96" y="-2724"/>
      </p:cViewPr>
      <p:guideLst>
        <p:guide orient="horz" pos="570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6T02:57:28.214" idx="1">
    <p:pos x="1471" y="4800"/>
    <p:text>ニュース記事
https://www.baystars.co.jp/news/2026/01/0127_03.php
のリンクをいれてください</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563383" y="685800"/>
            <a:ext cx="17319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bdff9cb6b1_0_1:notes"/>
          <p:cNvSpPr>
            <a:spLocks noGrp="1" noRot="1" noChangeAspect="1"/>
          </p:cNvSpPr>
          <p:nvPr>
            <p:ph type="sldImg" idx="2"/>
          </p:nvPr>
        </p:nvSpPr>
        <p:spPr>
          <a:xfrm>
            <a:off x="2563813" y="685800"/>
            <a:ext cx="173196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bdff9cb6b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2620800"/>
            <a:ext cx="8520600" cy="7224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9975723"/>
            <a:ext cx="8520600" cy="2789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7570691"/>
            <a:ext cx="8520600" cy="2963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566426"/>
            <a:ext cx="8520600" cy="2015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4056551"/>
            <a:ext cx="8520600" cy="1202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1566426"/>
            <a:ext cx="8520600" cy="2015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4056551"/>
            <a:ext cx="3999900" cy="1202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4056551"/>
            <a:ext cx="3999900" cy="1202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1566426"/>
            <a:ext cx="8520600" cy="2015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1955634"/>
            <a:ext cx="2808000" cy="26601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4891197"/>
            <a:ext cx="2808000" cy="11190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1584465"/>
            <a:ext cx="6367800" cy="143991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440"/>
            <a:ext cx="4572000" cy="18104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4340603"/>
            <a:ext cx="4045200" cy="521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9866432"/>
            <a:ext cx="4045200" cy="4347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2548643"/>
            <a:ext cx="3837000" cy="130062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14891032"/>
            <a:ext cx="5998800" cy="21300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3893405"/>
            <a:ext cx="8520600" cy="6911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11095391"/>
            <a:ext cx="8520600" cy="4578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16413870"/>
            <a:ext cx="548700" cy="13854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1566426"/>
            <a:ext cx="8520600" cy="2015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4056551"/>
            <a:ext cx="8520600" cy="1202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16413870"/>
            <a:ext cx="548700" cy="13854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p:nvPr/>
        </p:nvSpPr>
        <p:spPr>
          <a:xfrm>
            <a:off x="706059" y="90150"/>
            <a:ext cx="7766100" cy="537000"/>
          </a:xfrm>
          <a:prstGeom prst="rect">
            <a:avLst/>
          </a:prstGeom>
          <a:solidFill>
            <a:srgbClr val="27418F"/>
          </a:solidFill>
          <a:ln>
            <a:noFill/>
          </a:ln>
        </p:spPr>
        <p:txBody>
          <a:bodyPr spcFirstLastPara="1" wrap="square" lIns="132200" tIns="132200" rIns="132200" bIns="132200" anchor="ctr" anchorCtr="0">
            <a:noAutofit/>
          </a:bodyPr>
          <a:lstStyle/>
          <a:p>
            <a:pPr marL="0" lvl="0" indent="0" algn="l" rtl="0">
              <a:spcBef>
                <a:spcPts val="0"/>
              </a:spcBef>
              <a:spcAft>
                <a:spcPts val="0"/>
              </a:spcAft>
              <a:buNone/>
            </a:pPr>
            <a:r>
              <a:rPr lang="ja" sz="1301" b="1">
                <a:solidFill>
                  <a:srgbClr val="FFFFFF"/>
                </a:solidFill>
              </a:rPr>
              <a:t>横浜DeNAベイスターズ Haisai Carnival 2026 Supported by FOD</a:t>
            </a:r>
            <a:endParaRPr sz="1301" b="1">
              <a:solidFill>
                <a:srgbClr val="FFFFFF"/>
              </a:solidFill>
            </a:endParaRPr>
          </a:p>
        </p:txBody>
      </p:sp>
      <p:sp>
        <p:nvSpPr>
          <p:cNvPr id="60" name="Google Shape;60;p14"/>
          <p:cNvSpPr txBox="1"/>
          <p:nvPr/>
        </p:nvSpPr>
        <p:spPr>
          <a:xfrm>
            <a:off x="322600" y="627150"/>
            <a:ext cx="8361000" cy="1461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1050">
                <a:solidFill>
                  <a:srgbClr val="262626"/>
                </a:solidFill>
                <a:highlight>
                  <a:srgbClr val="FFFFFF"/>
                </a:highlight>
                <a:latin typeface="Helvetica"/>
                <a:ea typeface="Helvetica"/>
                <a:cs typeface="Helvetica"/>
                <a:sym typeface="Helvetica"/>
              </a:rPr>
              <a:t>一軍キャンプ地宜野湾の沖縄コンベンションセンターにおいて、2月18日(水)に初の球団主催イベント『横浜DeNAベイスターズ Haisai Carnival 2026 Supported by FOD』を開催いたします。本イベントは球団にゆかりのある豪華ゲストの方々によるライブパフォーマンスやスペシャルトークショーで、春季キャンプをさらに熱く盛り上げます！</a:t>
            </a:r>
            <a:endParaRPr sz="1050">
              <a:solidFill>
                <a:srgbClr val="262626"/>
              </a:solidFill>
              <a:highlight>
                <a:srgbClr val="FFFFFF"/>
              </a:highlight>
              <a:latin typeface="Helvetica"/>
              <a:ea typeface="Helvetica"/>
              <a:cs typeface="Helvetica"/>
              <a:sym typeface="Helvetica"/>
            </a:endParaRPr>
          </a:p>
          <a:p>
            <a:pPr marL="0" lvl="0" indent="0" algn="l" rtl="0">
              <a:lnSpc>
                <a:spcPct val="115000"/>
              </a:lnSpc>
              <a:spcBef>
                <a:spcPts val="0"/>
              </a:spcBef>
              <a:spcAft>
                <a:spcPts val="0"/>
              </a:spcAft>
              <a:buClr>
                <a:schemeClr val="dk1"/>
              </a:buClr>
              <a:buSzPts val="1100"/>
              <a:buFont typeface="Arial"/>
              <a:buNone/>
            </a:pPr>
            <a:r>
              <a:rPr lang="ja" sz="1050">
                <a:solidFill>
                  <a:srgbClr val="262626"/>
                </a:solidFill>
                <a:highlight>
                  <a:srgbClr val="FFFFFF"/>
                </a:highlight>
                <a:latin typeface="Helvetica"/>
                <a:ea typeface="Helvetica"/>
                <a:cs typeface="Helvetica"/>
                <a:sym typeface="Helvetica"/>
              </a:rPr>
              <a:t>シンガーソングライターHARTYさんと共に球団OBの大和氏がアーティストとして球団イベントに初登場されるほか、M1グランプリ2025で準優勝に輝いたお笑いコンビ「ドンデコルテ」のお二人による漫才ステージ、歌手の相川七瀬さんによるスペシャルパフォーマンスなど盛りだくさん！</a:t>
            </a:r>
            <a:endParaRPr sz="1050">
              <a:solidFill>
                <a:srgbClr val="262626"/>
              </a:solidFill>
              <a:highlight>
                <a:srgbClr val="FFFFFF"/>
              </a:highlight>
              <a:latin typeface="Helvetica"/>
              <a:ea typeface="Helvetica"/>
              <a:cs typeface="Helvetica"/>
              <a:sym typeface="Helvetica"/>
            </a:endParaRPr>
          </a:p>
          <a:p>
            <a:pPr marL="0" lvl="0" indent="0" algn="l" rtl="0">
              <a:lnSpc>
                <a:spcPct val="115000"/>
              </a:lnSpc>
              <a:spcBef>
                <a:spcPts val="0"/>
              </a:spcBef>
              <a:spcAft>
                <a:spcPts val="0"/>
              </a:spcAft>
              <a:buNone/>
            </a:pPr>
            <a:r>
              <a:rPr lang="ja" sz="1050">
                <a:solidFill>
                  <a:srgbClr val="262626"/>
                </a:solidFill>
                <a:highlight>
                  <a:srgbClr val="FFFFFF"/>
                </a:highlight>
                <a:latin typeface="Helvetica"/>
                <a:ea typeface="Helvetica"/>
                <a:cs typeface="Helvetica"/>
                <a:sym typeface="Helvetica"/>
              </a:rPr>
              <a:t>トークショーには相川新監督と、沖縄出身の選手も続々登場！ぜひお越しください!!</a:t>
            </a:r>
            <a:endParaRPr sz="1100">
              <a:solidFill>
                <a:schemeClr val="dk1"/>
              </a:solidFill>
            </a:endParaRPr>
          </a:p>
        </p:txBody>
      </p:sp>
      <p:graphicFrame>
        <p:nvGraphicFramePr>
          <p:cNvPr id="61" name="Google Shape;61;p14"/>
          <p:cNvGraphicFramePr/>
          <p:nvPr/>
        </p:nvGraphicFramePr>
        <p:xfrm>
          <a:off x="702625" y="2168125"/>
          <a:ext cx="7600950" cy="800100"/>
        </p:xfrm>
        <a:graphic>
          <a:graphicData uri="http://schemas.openxmlformats.org/drawingml/2006/table">
            <a:tbl>
              <a:tblPr>
                <a:solidFill>
                  <a:srgbClr val="FFFFFF"/>
                </a:solidFill>
                <a:tableStyleId>{332218AE-47B0-41FE-88BB-E6528348B9D3}</a:tableStyleId>
              </a:tblPr>
              <a:tblGrid>
                <a:gridCol w="2533650">
                  <a:extLst>
                    <a:ext uri="{9D8B030D-6E8A-4147-A177-3AD203B41FA5}">
                      <a16:colId xmlns:a16="http://schemas.microsoft.com/office/drawing/2014/main" val="20000"/>
                    </a:ext>
                  </a:extLst>
                </a:gridCol>
                <a:gridCol w="253365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400050">
                <a:tc>
                  <a:txBody>
                    <a:bodyPr/>
                    <a:lstStyle/>
                    <a:p>
                      <a:pPr marL="0" lvl="0" indent="0" algn="ctr" rtl="0">
                        <a:lnSpc>
                          <a:spcPct val="115000"/>
                        </a:lnSpc>
                        <a:spcBef>
                          <a:spcPts val="0"/>
                        </a:spcBef>
                        <a:spcAft>
                          <a:spcPts val="0"/>
                        </a:spcAft>
                        <a:buNone/>
                      </a:pPr>
                      <a:r>
                        <a:rPr lang="ja" sz="1050" b="1">
                          <a:solidFill>
                            <a:srgbClr val="262626"/>
                          </a:solidFill>
                          <a:highlight>
                            <a:srgbClr val="FFFFFF"/>
                          </a:highlight>
                          <a:latin typeface="Helvetica"/>
                          <a:ea typeface="Helvetica"/>
                          <a:cs typeface="Helvetica"/>
                          <a:sym typeface="Helvetica"/>
                        </a:rPr>
                        <a:t>実施日</a:t>
                      </a:r>
                      <a:endParaRPr sz="1050" b="1">
                        <a:solidFill>
                          <a:srgbClr val="262626"/>
                        </a:solidFill>
                        <a:highlight>
                          <a:srgbClr val="FFFFFF"/>
                        </a:highlight>
                        <a:latin typeface="Helvetica"/>
                        <a:ea typeface="Helvetica"/>
                        <a:cs typeface="Helvetica"/>
                        <a:sym typeface="Helvetica"/>
                      </a:endParaRPr>
                    </a:p>
                  </a:txBody>
                  <a:tcPr marL="95250" marR="95250" marT="95250" marB="95250" anchor="ctr">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solidFill>
                      <a:srgbClr val="F0F0F0"/>
                    </a:solidFill>
                  </a:tcPr>
                </a:tc>
                <a:tc>
                  <a:txBody>
                    <a:bodyPr/>
                    <a:lstStyle/>
                    <a:p>
                      <a:pPr marL="0" lvl="0" indent="0" algn="ctr" rtl="0">
                        <a:lnSpc>
                          <a:spcPct val="115000"/>
                        </a:lnSpc>
                        <a:spcBef>
                          <a:spcPts val="0"/>
                        </a:spcBef>
                        <a:spcAft>
                          <a:spcPts val="0"/>
                        </a:spcAft>
                        <a:buNone/>
                      </a:pPr>
                      <a:r>
                        <a:rPr lang="ja" sz="1050" b="1">
                          <a:solidFill>
                            <a:srgbClr val="262626"/>
                          </a:solidFill>
                          <a:highlight>
                            <a:srgbClr val="FFFFFF"/>
                          </a:highlight>
                          <a:latin typeface="Helvetica"/>
                          <a:ea typeface="Helvetica"/>
                          <a:cs typeface="Helvetica"/>
                          <a:sym typeface="Helvetica"/>
                        </a:rPr>
                        <a:t>開始時刻</a:t>
                      </a:r>
                      <a:endParaRPr sz="1050" b="1">
                        <a:solidFill>
                          <a:srgbClr val="262626"/>
                        </a:solidFill>
                        <a:highlight>
                          <a:srgbClr val="FFFFFF"/>
                        </a:highlight>
                        <a:latin typeface="Helvetica"/>
                        <a:ea typeface="Helvetica"/>
                        <a:cs typeface="Helvetica"/>
                        <a:sym typeface="Helvetica"/>
                      </a:endParaRPr>
                    </a:p>
                  </a:txBody>
                  <a:tcPr marL="95250" marR="95250" marT="95250" marB="95250" anchor="ctr">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solidFill>
                      <a:srgbClr val="F0F0F0"/>
                    </a:solidFill>
                  </a:tcPr>
                </a:tc>
                <a:tc>
                  <a:txBody>
                    <a:bodyPr/>
                    <a:lstStyle/>
                    <a:p>
                      <a:pPr marL="0" lvl="0" indent="0" algn="ctr" rtl="0">
                        <a:lnSpc>
                          <a:spcPct val="115000"/>
                        </a:lnSpc>
                        <a:spcBef>
                          <a:spcPts val="0"/>
                        </a:spcBef>
                        <a:spcAft>
                          <a:spcPts val="0"/>
                        </a:spcAft>
                        <a:buNone/>
                      </a:pPr>
                      <a:r>
                        <a:rPr lang="ja" sz="1050" b="1">
                          <a:solidFill>
                            <a:srgbClr val="262626"/>
                          </a:solidFill>
                          <a:highlight>
                            <a:srgbClr val="FFFFFF"/>
                          </a:highlight>
                          <a:latin typeface="Helvetica"/>
                          <a:ea typeface="Helvetica"/>
                          <a:cs typeface="Helvetica"/>
                          <a:sym typeface="Helvetica"/>
                        </a:rPr>
                        <a:t>場所</a:t>
                      </a:r>
                      <a:endParaRPr sz="1050" b="1">
                        <a:solidFill>
                          <a:srgbClr val="262626"/>
                        </a:solidFill>
                        <a:highlight>
                          <a:srgbClr val="FFFFFF"/>
                        </a:highlight>
                        <a:latin typeface="Helvetica"/>
                        <a:ea typeface="Helvetica"/>
                        <a:cs typeface="Helvetica"/>
                        <a:sym typeface="Helvetica"/>
                      </a:endParaRPr>
                    </a:p>
                  </a:txBody>
                  <a:tcPr marL="95250" marR="95250" marT="95250" marB="95250" anchor="ctr">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solidFill>
                      <a:srgbClr val="F0F0F0"/>
                    </a:solidFill>
                  </a:tcPr>
                </a:tc>
                <a:extLst>
                  <a:ext uri="{0D108BD9-81ED-4DB2-BD59-A6C34878D82A}">
                    <a16:rowId xmlns:a16="http://schemas.microsoft.com/office/drawing/2014/main" val="10000"/>
                  </a:ext>
                </a:extLst>
              </a:tr>
              <a:tr h="400050">
                <a:tc>
                  <a:txBody>
                    <a:bodyPr/>
                    <a:lstStyle/>
                    <a:p>
                      <a:pPr marL="0" lvl="0" indent="0" algn="ctr" rtl="0">
                        <a:lnSpc>
                          <a:spcPct val="115000"/>
                        </a:lnSpc>
                        <a:spcBef>
                          <a:spcPts val="0"/>
                        </a:spcBef>
                        <a:spcAft>
                          <a:spcPts val="0"/>
                        </a:spcAft>
                        <a:buNone/>
                      </a:pPr>
                      <a:r>
                        <a:rPr lang="ja" sz="1050">
                          <a:solidFill>
                            <a:srgbClr val="4D4D4D"/>
                          </a:solidFill>
                          <a:highlight>
                            <a:srgbClr val="FFFFFF"/>
                          </a:highlight>
                          <a:latin typeface="Helvetica"/>
                          <a:ea typeface="Helvetica"/>
                          <a:cs typeface="Helvetica"/>
                          <a:sym typeface="Helvetica"/>
                        </a:rPr>
                        <a:t>2026年2月18日(水)</a:t>
                      </a:r>
                      <a:endParaRPr sz="1050">
                        <a:solidFill>
                          <a:srgbClr val="4D4D4D"/>
                        </a:solidFill>
                        <a:highlight>
                          <a:srgbClr val="FFFFFF"/>
                        </a:highlight>
                        <a:latin typeface="Helvetica"/>
                        <a:ea typeface="Helvetica"/>
                        <a:cs typeface="Helvetica"/>
                        <a:sym typeface="Helvetica"/>
                      </a:endParaRPr>
                    </a:p>
                  </a:txBody>
                  <a:tcPr marL="95250" marR="95250" marT="95250" marB="95250">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ja" sz="1050">
                          <a:solidFill>
                            <a:srgbClr val="4D4D4D"/>
                          </a:solidFill>
                          <a:highlight>
                            <a:srgbClr val="FFFFFF"/>
                          </a:highlight>
                          <a:latin typeface="Helvetica"/>
                          <a:ea typeface="Helvetica"/>
                          <a:cs typeface="Helvetica"/>
                          <a:sym typeface="Helvetica"/>
                        </a:rPr>
                        <a:t>17:30</a:t>
                      </a:r>
                      <a:endParaRPr sz="1050">
                        <a:solidFill>
                          <a:srgbClr val="4D4D4D"/>
                        </a:solidFill>
                        <a:highlight>
                          <a:srgbClr val="FFFFFF"/>
                        </a:highlight>
                        <a:latin typeface="Helvetica"/>
                        <a:ea typeface="Helvetica"/>
                        <a:cs typeface="Helvetica"/>
                        <a:sym typeface="Helvetica"/>
                      </a:endParaRPr>
                    </a:p>
                  </a:txBody>
                  <a:tcPr marL="95250" marR="95250" marT="95250" marB="95250">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noFill/>
                  </a:tcPr>
                </a:tc>
                <a:tc>
                  <a:txBody>
                    <a:bodyPr/>
                    <a:lstStyle/>
                    <a:p>
                      <a:pPr marL="0" lvl="0" indent="0" algn="ctr" rtl="0">
                        <a:lnSpc>
                          <a:spcPct val="115000"/>
                        </a:lnSpc>
                        <a:spcBef>
                          <a:spcPts val="0"/>
                        </a:spcBef>
                        <a:spcAft>
                          <a:spcPts val="0"/>
                        </a:spcAft>
                        <a:buNone/>
                      </a:pPr>
                      <a:r>
                        <a:rPr lang="ja" sz="1050">
                          <a:solidFill>
                            <a:srgbClr val="4D4D4D"/>
                          </a:solidFill>
                          <a:highlight>
                            <a:srgbClr val="FFFFFF"/>
                          </a:highlight>
                          <a:latin typeface="Helvetica"/>
                          <a:ea typeface="Helvetica"/>
                          <a:cs typeface="Helvetica"/>
                          <a:sym typeface="Helvetica"/>
                        </a:rPr>
                        <a:t>沖縄コンベンションセンター 劇場棟</a:t>
                      </a:r>
                      <a:endParaRPr sz="1050">
                        <a:solidFill>
                          <a:srgbClr val="4D4D4D"/>
                        </a:solidFill>
                        <a:highlight>
                          <a:srgbClr val="FFFFFF"/>
                        </a:highlight>
                        <a:latin typeface="Helvetica"/>
                        <a:ea typeface="Helvetica"/>
                        <a:cs typeface="Helvetica"/>
                        <a:sym typeface="Helvetica"/>
                      </a:endParaRPr>
                    </a:p>
                  </a:txBody>
                  <a:tcPr marL="95250" marR="95250" marT="95250" marB="95250">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
        <p:nvSpPr>
          <p:cNvPr id="62" name="Google Shape;62;p14"/>
          <p:cNvSpPr/>
          <p:nvPr/>
        </p:nvSpPr>
        <p:spPr>
          <a:xfrm>
            <a:off x="2336200" y="7620000"/>
            <a:ext cx="4333800" cy="800100"/>
          </a:xfrm>
          <a:prstGeom prst="roundRect">
            <a:avLst>
              <a:gd name="adj" fmla="val 16667"/>
            </a:avLst>
          </a:prstGeom>
          <a:solidFill>
            <a:srgbClr val="27418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a:solidFill>
                  <a:schemeClr val="lt1"/>
                </a:solidFill>
              </a:rPr>
              <a:t>出演者ラインナップ＆チケット情報はコチラ</a:t>
            </a:r>
            <a:endParaRPr>
              <a:solidFill>
                <a:schemeClr val="lt1"/>
              </a:solidFill>
            </a:endParaRPr>
          </a:p>
        </p:txBody>
      </p:sp>
      <p:graphicFrame>
        <p:nvGraphicFramePr>
          <p:cNvPr id="63" name="Google Shape;63;p14"/>
          <p:cNvGraphicFramePr/>
          <p:nvPr/>
        </p:nvGraphicFramePr>
        <p:xfrm>
          <a:off x="1068188" y="3511050"/>
          <a:ext cx="7041825" cy="3360510"/>
        </p:xfrm>
        <a:graphic>
          <a:graphicData uri="http://schemas.openxmlformats.org/drawingml/2006/table">
            <a:tbl>
              <a:tblPr>
                <a:noFill/>
                <a:tableStyleId>{9BD95FBF-DD34-4CC7-B2BE-449F2E823AFC}</a:tableStyleId>
              </a:tblPr>
              <a:tblGrid>
                <a:gridCol w="2113725">
                  <a:extLst>
                    <a:ext uri="{9D8B030D-6E8A-4147-A177-3AD203B41FA5}">
                      <a16:colId xmlns:a16="http://schemas.microsoft.com/office/drawing/2014/main" val="20000"/>
                    </a:ext>
                  </a:extLst>
                </a:gridCol>
                <a:gridCol w="4928100">
                  <a:extLst>
                    <a:ext uri="{9D8B030D-6E8A-4147-A177-3AD203B41FA5}">
                      <a16:colId xmlns:a16="http://schemas.microsoft.com/office/drawing/2014/main" val="20001"/>
                    </a:ext>
                  </a:extLst>
                </a:gridCol>
              </a:tblGrid>
              <a:tr h="643600">
                <a:tc>
                  <a:txBody>
                    <a:bodyPr/>
                    <a:lstStyle/>
                    <a:p>
                      <a:pPr marL="0" lvl="0" indent="0" algn="ctr" rtl="0">
                        <a:spcBef>
                          <a:spcPts val="800"/>
                        </a:spcBef>
                        <a:spcAft>
                          <a:spcPts val="800"/>
                        </a:spcAft>
                        <a:buNone/>
                      </a:pPr>
                      <a:r>
                        <a:rPr lang="ja" sz="1050" b="1">
                          <a:solidFill>
                            <a:srgbClr val="262626"/>
                          </a:solidFill>
                          <a:latin typeface="Helvetica"/>
                          <a:ea typeface="Helvetica"/>
                          <a:cs typeface="Helvetica"/>
                          <a:sym typeface="Helvetica"/>
                        </a:rPr>
                        <a:t>実施日</a:t>
                      </a:r>
                      <a:endParaRPr sz="1050" b="1">
                        <a:solidFill>
                          <a:srgbClr val="262626"/>
                        </a:solidFill>
                        <a:latin typeface="Helvetica"/>
                        <a:ea typeface="Helvetica"/>
                        <a:cs typeface="Helvetica"/>
                        <a:sym typeface="Helvetica"/>
                      </a:endParaRPr>
                    </a:p>
                  </a:txBody>
                  <a:tcPr marL="101600" marR="101600" marT="101600" marB="101600" anchor="ctr">
                    <a:lnL w="6350" cap="flat" cmpd="sng">
                      <a:solidFill>
                        <a:srgbClr val="E0E0E0"/>
                      </a:solidFill>
                      <a:prstDash val="solid"/>
                      <a:round/>
                      <a:headEnd type="none" w="sm" len="sm"/>
                      <a:tailEnd type="none" w="sm" len="sm"/>
                    </a:lnL>
                    <a:lnR w="6350" cap="flat" cmpd="sng">
                      <a:solidFill>
                        <a:srgbClr val="E0E0E0"/>
                      </a:solidFill>
                      <a:prstDash val="solid"/>
                      <a:round/>
                      <a:headEnd type="none" w="sm" len="sm"/>
                      <a:tailEnd type="none" w="sm" len="sm"/>
                    </a:lnR>
                    <a:lnT w="6350" cap="flat" cmpd="sng">
                      <a:solidFill>
                        <a:srgbClr val="E0E0E0"/>
                      </a:solidFill>
                      <a:prstDash val="solid"/>
                      <a:round/>
                      <a:headEnd type="none" w="sm" len="sm"/>
                      <a:tailEnd type="none" w="sm" len="sm"/>
                    </a:lnT>
                    <a:lnB w="6350" cap="flat" cmpd="sng">
                      <a:solidFill>
                        <a:srgbClr val="E0E0E0"/>
                      </a:solidFill>
                      <a:prstDash val="solid"/>
                      <a:round/>
                      <a:headEnd type="none" w="sm" len="sm"/>
                      <a:tailEnd type="none" w="sm" len="sm"/>
                    </a:lnB>
                    <a:solidFill>
                      <a:srgbClr val="F0F0F0"/>
                    </a:solidFill>
                  </a:tcPr>
                </a:tc>
                <a:tc>
                  <a:txBody>
                    <a:bodyPr/>
                    <a:lstStyle/>
                    <a:p>
                      <a:pPr marL="0" lvl="0" indent="0" algn="l" rtl="0">
                        <a:spcBef>
                          <a:spcPts val="800"/>
                        </a:spcBef>
                        <a:spcAft>
                          <a:spcPts val="800"/>
                        </a:spcAft>
                        <a:buNone/>
                      </a:pPr>
                      <a:r>
                        <a:rPr lang="ja" sz="1050">
                          <a:latin typeface="Helvetica"/>
                          <a:ea typeface="Helvetica"/>
                          <a:cs typeface="Helvetica"/>
                          <a:sym typeface="Helvetica"/>
                        </a:rPr>
                        <a:t>2026年2月18日(水)</a:t>
                      </a:r>
                      <a:endParaRPr sz="1050">
                        <a:latin typeface="Helvetica"/>
                        <a:ea typeface="Helvetica"/>
                        <a:cs typeface="Helvetica"/>
                        <a:sym typeface="Helvetica"/>
                      </a:endParaRPr>
                    </a:p>
                  </a:txBody>
                  <a:tcPr marL="101600" marR="101600" marT="101600" marB="101600">
                    <a:lnL w="6350" cap="flat" cmpd="sng">
                      <a:solidFill>
                        <a:srgbClr val="E0E0E0"/>
                      </a:solidFill>
                      <a:prstDash val="solid"/>
                      <a:round/>
                      <a:headEnd type="none" w="sm" len="sm"/>
                      <a:tailEnd type="none" w="sm" len="sm"/>
                    </a:lnL>
                    <a:lnR w="6350" cap="flat" cmpd="sng">
                      <a:solidFill>
                        <a:srgbClr val="E0E0E0"/>
                      </a:solidFill>
                      <a:prstDash val="solid"/>
                      <a:round/>
                      <a:headEnd type="none" w="sm" len="sm"/>
                      <a:tailEnd type="none" w="sm" len="sm"/>
                    </a:lnR>
                    <a:lnT w="6350" cap="flat" cmpd="sng">
                      <a:solidFill>
                        <a:srgbClr val="E0E0E0"/>
                      </a:solidFill>
                      <a:prstDash val="solid"/>
                      <a:round/>
                      <a:headEnd type="none" w="sm" len="sm"/>
                      <a:tailEnd type="none" w="sm" len="sm"/>
                    </a:lnT>
                    <a:lnB w="6350" cap="flat" cmpd="sng">
                      <a:solidFill>
                        <a:srgbClr val="E0E0E0"/>
                      </a:solidFill>
                      <a:prstDash val="solid"/>
                      <a:round/>
                      <a:headEnd type="none" w="sm" len="sm"/>
                      <a:tailEnd type="none" w="sm" len="sm"/>
                    </a:lnB>
                    <a:noFill/>
                  </a:tcPr>
                </a:tc>
                <a:extLst>
                  <a:ext uri="{0D108BD9-81ED-4DB2-BD59-A6C34878D82A}">
                    <a16:rowId xmlns:a16="http://schemas.microsoft.com/office/drawing/2014/main" val="10000"/>
                  </a:ext>
                </a:extLst>
              </a:tr>
              <a:tr h="413575">
                <a:tc>
                  <a:txBody>
                    <a:bodyPr/>
                    <a:lstStyle/>
                    <a:p>
                      <a:pPr marL="0" lvl="0" indent="0" algn="ctr" rtl="0">
                        <a:spcBef>
                          <a:spcPts val="800"/>
                        </a:spcBef>
                        <a:spcAft>
                          <a:spcPts val="800"/>
                        </a:spcAft>
                        <a:buNone/>
                      </a:pPr>
                      <a:r>
                        <a:rPr lang="ja" sz="1050" b="1">
                          <a:solidFill>
                            <a:srgbClr val="262626"/>
                          </a:solidFill>
                          <a:latin typeface="Helvetica"/>
                          <a:ea typeface="Helvetica"/>
                          <a:cs typeface="Helvetica"/>
                          <a:sym typeface="Helvetica"/>
                        </a:rPr>
                        <a:t>開始時刻</a:t>
                      </a:r>
                      <a:endParaRPr sz="1050" b="1">
                        <a:solidFill>
                          <a:srgbClr val="262626"/>
                        </a:solidFill>
                        <a:latin typeface="Helvetica"/>
                        <a:ea typeface="Helvetica"/>
                        <a:cs typeface="Helvetica"/>
                        <a:sym typeface="Helvetica"/>
                      </a:endParaRPr>
                    </a:p>
                  </a:txBody>
                  <a:tcPr marL="101600" marR="101600" marT="101600" marB="101600" anchor="ctr">
                    <a:lnL w="6350" cap="flat" cmpd="sng">
                      <a:solidFill>
                        <a:srgbClr val="E0E0E0"/>
                      </a:solidFill>
                      <a:prstDash val="solid"/>
                      <a:round/>
                      <a:headEnd type="none" w="sm" len="sm"/>
                      <a:tailEnd type="none" w="sm" len="sm"/>
                    </a:lnL>
                    <a:lnR w="6350" cap="flat" cmpd="sng">
                      <a:solidFill>
                        <a:srgbClr val="E0E0E0"/>
                      </a:solidFill>
                      <a:prstDash val="solid"/>
                      <a:round/>
                      <a:headEnd type="none" w="sm" len="sm"/>
                      <a:tailEnd type="none" w="sm" len="sm"/>
                    </a:lnR>
                    <a:lnT w="6350" cap="flat" cmpd="sng">
                      <a:solidFill>
                        <a:srgbClr val="E0E0E0"/>
                      </a:solidFill>
                      <a:prstDash val="solid"/>
                      <a:round/>
                      <a:headEnd type="none" w="sm" len="sm"/>
                      <a:tailEnd type="none" w="sm" len="sm"/>
                    </a:lnT>
                    <a:lnB w="6350" cap="flat" cmpd="sng">
                      <a:solidFill>
                        <a:srgbClr val="E0E0E0"/>
                      </a:solidFill>
                      <a:prstDash val="solid"/>
                      <a:round/>
                      <a:headEnd type="none" w="sm" len="sm"/>
                      <a:tailEnd type="none" w="sm" len="sm"/>
                    </a:lnB>
                    <a:solidFill>
                      <a:srgbClr val="F0F0F0"/>
                    </a:solidFill>
                  </a:tcPr>
                </a:tc>
                <a:tc>
                  <a:txBody>
                    <a:bodyPr/>
                    <a:lstStyle/>
                    <a:p>
                      <a:pPr marL="0" lvl="0" indent="0" algn="l" rtl="0">
                        <a:spcBef>
                          <a:spcPts val="800"/>
                        </a:spcBef>
                        <a:spcAft>
                          <a:spcPts val="800"/>
                        </a:spcAft>
                        <a:buNone/>
                      </a:pPr>
                      <a:r>
                        <a:rPr lang="ja" sz="1050">
                          <a:latin typeface="Helvetica"/>
                          <a:ea typeface="Helvetica"/>
                          <a:cs typeface="Helvetica"/>
                          <a:sym typeface="Helvetica"/>
                        </a:rPr>
                        <a:t>17:30</a:t>
                      </a:r>
                      <a:endParaRPr sz="1050">
                        <a:latin typeface="Helvetica"/>
                        <a:ea typeface="Helvetica"/>
                        <a:cs typeface="Helvetica"/>
                        <a:sym typeface="Helvetica"/>
                      </a:endParaRPr>
                    </a:p>
                  </a:txBody>
                  <a:tcPr marL="101600" marR="101600" marT="101600" marB="101600">
                    <a:lnL w="6350" cap="flat" cmpd="sng">
                      <a:solidFill>
                        <a:srgbClr val="E0E0E0"/>
                      </a:solidFill>
                      <a:prstDash val="solid"/>
                      <a:round/>
                      <a:headEnd type="none" w="sm" len="sm"/>
                      <a:tailEnd type="none" w="sm" len="sm"/>
                    </a:lnL>
                    <a:lnR w="6350" cap="flat" cmpd="sng">
                      <a:solidFill>
                        <a:srgbClr val="E0E0E0"/>
                      </a:solidFill>
                      <a:prstDash val="solid"/>
                      <a:round/>
                      <a:headEnd type="none" w="sm" len="sm"/>
                      <a:tailEnd type="none" w="sm" len="sm"/>
                    </a:lnR>
                    <a:lnT w="6350" cap="flat" cmpd="sng">
                      <a:solidFill>
                        <a:srgbClr val="E0E0E0"/>
                      </a:solidFill>
                      <a:prstDash val="solid"/>
                      <a:round/>
                      <a:headEnd type="none" w="sm" len="sm"/>
                      <a:tailEnd type="none" w="sm" len="sm"/>
                    </a:lnT>
                    <a:lnB w="6350" cap="flat" cmpd="sng">
                      <a:solidFill>
                        <a:srgbClr val="E0E0E0"/>
                      </a:solidFill>
                      <a:prstDash val="solid"/>
                      <a:round/>
                      <a:headEnd type="none" w="sm" len="sm"/>
                      <a:tailEnd type="none" w="sm" len="sm"/>
                    </a:lnB>
                    <a:noFill/>
                  </a:tcPr>
                </a:tc>
                <a:extLst>
                  <a:ext uri="{0D108BD9-81ED-4DB2-BD59-A6C34878D82A}">
                    <a16:rowId xmlns:a16="http://schemas.microsoft.com/office/drawing/2014/main" val="10001"/>
                  </a:ext>
                </a:extLst>
              </a:tr>
              <a:tr h="413575">
                <a:tc>
                  <a:txBody>
                    <a:bodyPr/>
                    <a:lstStyle/>
                    <a:p>
                      <a:pPr marL="0" lvl="0" indent="0" algn="ctr" rtl="0">
                        <a:spcBef>
                          <a:spcPts val="800"/>
                        </a:spcBef>
                        <a:spcAft>
                          <a:spcPts val="800"/>
                        </a:spcAft>
                        <a:buNone/>
                      </a:pPr>
                      <a:r>
                        <a:rPr lang="ja" sz="1050" b="1">
                          <a:solidFill>
                            <a:srgbClr val="262626"/>
                          </a:solidFill>
                          <a:latin typeface="Helvetica"/>
                          <a:ea typeface="Helvetica"/>
                          <a:cs typeface="Helvetica"/>
                          <a:sym typeface="Helvetica"/>
                        </a:rPr>
                        <a:t>実施場所</a:t>
                      </a:r>
                      <a:endParaRPr sz="1050" b="1">
                        <a:solidFill>
                          <a:srgbClr val="262626"/>
                        </a:solidFill>
                        <a:latin typeface="Helvetica"/>
                        <a:ea typeface="Helvetica"/>
                        <a:cs typeface="Helvetica"/>
                        <a:sym typeface="Helvetica"/>
                      </a:endParaRPr>
                    </a:p>
                  </a:txBody>
                  <a:tcPr marL="101600" marR="101600" marT="101600" marB="101600" anchor="ctr">
                    <a:lnL w="6350" cap="flat" cmpd="sng">
                      <a:solidFill>
                        <a:srgbClr val="E0E0E0"/>
                      </a:solidFill>
                      <a:prstDash val="solid"/>
                      <a:round/>
                      <a:headEnd type="none" w="sm" len="sm"/>
                      <a:tailEnd type="none" w="sm" len="sm"/>
                    </a:lnL>
                    <a:lnR w="6350" cap="flat" cmpd="sng">
                      <a:solidFill>
                        <a:srgbClr val="E0E0E0"/>
                      </a:solidFill>
                      <a:prstDash val="solid"/>
                      <a:round/>
                      <a:headEnd type="none" w="sm" len="sm"/>
                      <a:tailEnd type="none" w="sm" len="sm"/>
                    </a:lnR>
                    <a:lnT w="6350" cap="flat" cmpd="sng">
                      <a:solidFill>
                        <a:srgbClr val="E0E0E0"/>
                      </a:solidFill>
                      <a:prstDash val="solid"/>
                      <a:round/>
                      <a:headEnd type="none" w="sm" len="sm"/>
                      <a:tailEnd type="none" w="sm" len="sm"/>
                    </a:lnT>
                    <a:lnB w="6350" cap="flat" cmpd="sng">
                      <a:solidFill>
                        <a:srgbClr val="E0E0E0"/>
                      </a:solidFill>
                      <a:prstDash val="solid"/>
                      <a:round/>
                      <a:headEnd type="none" w="sm" len="sm"/>
                      <a:tailEnd type="none" w="sm" len="sm"/>
                    </a:lnB>
                    <a:solidFill>
                      <a:srgbClr val="F0F0F0"/>
                    </a:solidFill>
                  </a:tcPr>
                </a:tc>
                <a:tc>
                  <a:txBody>
                    <a:bodyPr/>
                    <a:lstStyle/>
                    <a:p>
                      <a:pPr marL="0" lvl="0" indent="0" algn="l" rtl="0">
                        <a:spcBef>
                          <a:spcPts val="800"/>
                        </a:spcBef>
                        <a:spcAft>
                          <a:spcPts val="800"/>
                        </a:spcAft>
                        <a:buNone/>
                      </a:pPr>
                      <a:r>
                        <a:rPr lang="ja" sz="1050">
                          <a:latin typeface="Helvetica"/>
                          <a:ea typeface="Helvetica"/>
                          <a:cs typeface="Helvetica"/>
                          <a:sym typeface="Helvetica"/>
                        </a:rPr>
                        <a:t>沖縄コンベンションセンター 劇場棟</a:t>
                      </a:r>
                      <a:endParaRPr sz="1050">
                        <a:latin typeface="Helvetica"/>
                        <a:ea typeface="Helvetica"/>
                        <a:cs typeface="Helvetica"/>
                        <a:sym typeface="Helvetica"/>
                      </a:endParaRPr>
                    </a:p>
                  </a:txBody>
                  <a:tcPr marL="101600" marR="101600" marT="101600" marB="101600">
                    <a:lnL w="6350" cap="flat" cmpd="sng">
                      <a:solidFill>
                        <a:srgbClr val="E0E0E0"/>
                      </a:solidFill>
                      <a:prstDash val="solid"/>
                      <a:round/>
                      <a:headEnd type="none" w="sm" len="sm"/>
                      <a:tailEnd type="none" w="sm" len="sm"/>
                    </a:lnL>
                    <a:lnR w="6350" cap="flat" cmpd="sng">
                      <a:solidFill>
                        <a:srgbClr val="E0E0E0"/>
                      </a:solidFill>
                      <a:prstDash val="solid"/>
                      <a:round/>
                      <a:headEnd type="none" w="sm" len="sm"/>
                      <a:tailEnd type="none" w="sm" len="sm"/>
                    </a:lnR>
                    <a:lnT w="6350" cap="flat" cmpd="sng">
                      <a:solidFill>
                        <a:srgbClr val="E0E0E0"/>
                      </a:solidFill>
                      <a:prstDash val="solid"/>
                      <a:round/>
                      <a:headEnd type="none" w="sm" len="sm"/>
                      <a:tailEnd type="none" w="sm" len="sm"/>
                    </a:lnT>
                    <a:lnB w="6350" cap="flat" cmpd="sng">
                      <a:solidFill>
                        <a:srgbClr val="E0E0E0"/>
                      </a:solidFill>
                      <a:prstDash val="solid"/>
                      <a:round/>
                      <a:headEnd type="none" w="sm" len="sm"/>
                      <a:tailEnd type="none" w="sm" len="sm"/>
                    </a:lnB>
                    <a:noFill/>
                  </a:tcPr>
                </a:tc>
                <a:extLst>
                  <a:ext uri="{0D108BD9-81ED-4DB2-BD59-A6C34878D82A}">
                    <a16:rowId xmlns:a16="http://schemas.microsoft.com/office/drawing/2014/main" val="10002"/>
                  </a:ext>
                </a:extLst>
              </a:tr>
              <a:tr h="413575">
                <a:tc>
                  <a:txBody>
                    <a:bodyPr/>
                    <a:lstStyle/>
                    <a:p>
                      <a:pPr marL="0" lvl="0" indent="0" algn="ctr" rtl="0">
                        <a:spcBef>
                          <a:spcPts val="800"/>
                        </a:spcBef>
                        <a:spcAft>
                          <a:spcPts val="800"/>
                        </a:spcAft>
                        <a:buNone/>
                      </a:pPr>
                      <a:r>
                        <a:rPr lang="ja" sz="1050" b="1">
                          <a:solidFill>
                            <a:srgbClr val="262626"/>
                          </a:solidFill>
                          <a:latin typeface="Helvetica"/>
                          <a:ea typeface="Helvetica"/>
                          <a:cs typeface="Helvetica"/>
                          <a:sym typeface="Helvetica"/>
                        </a:rPr>
                        <a:t>イベント内容（予定）</a:t>
                      </a:r>
                      <a:endParaRPr sz="1050" b="1">
                        <a:solidFill>
                          <a:srgbClr val="262626"/>
                        </a:solidFill>
                        <a:latin typeface="Helvetica"/>
                        <a:ea typeface="Helvetica"/>
                        <a:cs typeface="Helvetica"/>
                        <a:sym typeface="Helvetica"/>
                      </a:endParaRPr>
                    </a:p>
                  </a:txBody>
                  <a:tcPr marL="101600" marR="101600" marT="101600" marB="101600" anchor="ctr">
                    <a:lnL w="6350" cap="flat" cmpd="sng">
                      <a:solidFill>
                        <a:srgbClr val="E0E0E0"/>
                      </a:solidFill>
                      <a:prstDash val="solid"/>
                      <a:round/>
                      <a:headEnd type="none" w="sm" len="sm"/>
                      <a:tailEnd type="none" w="sm" len="sm"/>
                    </a:lnL>
                    <a:lnR w="6350" cap="flat" cmpd="sng">
                      <a:solidFill>
                        <a:srgbClr val="E0E0E0"/>
                      </a:solidFill>
                      <a:prstDash val="solid"/>
                      <a:round/>
                      <a:headEnd type="none" w="sm" len="sm"/>
                      <a:tailEnd type="none" w="sm" len="sm"/>
                    </a:lnR>
                    <a:lnT w="6350" cap="flat" cmpd="sng">
                      <a:solidFill>
                        <a:srgbClr val="E0E0E0"/>
                      </a:solidFill>
                      <a:prstDash val="solid"/>
                      <a:round/>
                      <a:headEnd type="none" w="sm" len="sm"/>
                      <a:tailEnd type="none" w="sm" len="sm"/>
                    </a:lnT>
                    <a:lnB w="6350" cap="flat" cmpd="sng">
                      <a:solidFill>
                        <a:srgbClr val="E0E0E0"/>
                      </a:solidFill>
                      <a:prstDash val="solid"/>
                      <a:round/>
                      <a:headEnd type="none" w="sm" len="sm"/>
                      <a:tailEnd type="none" w="sm" len="sm"/>
                    </a:lnB>
                    <a:solidFill>
                      <a:srgbClr val="F0F0F0"/>
                    </a:solidFill>
                  </a:tcPr>
                </a:tc>
                <a:tc>
                  <a:txBody>
                    <a:bodyPr/>
                    <a:lstStyle/>
                    <a:p>
                      <a:pPr marL="457200" lvl="0" indent="-295275" algn="l" rtl="0">
                        <a:spcBef>
                          <a:spcPts val="800"/>
                        </a:spcBef>
                        <a:spcAft>
                          <a:spcPts val="0"/>
                        </a:spcAft>
                        <a:buSzPts val="1050"/>
                        <a:buFont typeface="Helvetica"/>
                        <a:buChar char="●"/>
                      </a:pPr>
                      <a:r>
                        <a:rPr lang="ja" sz="1050">
                          <a:latin typeface="Helvetica"/>
                          <a:ea typeface="Helvetica"/>
                          <a:cs typeface="Helvetica"/>
                          <a:sym typeface="Helvetica"/>
                        </a:rPr>
                        <a:t>ユニット YAMATY（大和&amp;HARTY） オープニングライブ</a:t>
                      </a:r>
                      <a:endParaRPr sz="1050">
                        <a:latin typeface="Helvetica"/>
                        <a:ea typeface="Helvetica"/>
                        <a:cs typeface="Helvetica"/>
                        <a:sym typeface="Helvetica"/>
                      </a:endParaRPr>
                    </a:p>
                    <a:p>
                      <a:pPr marL="457200" lvl="0" indent="-295275" algn="l" rtl="0">
                        <a:spcBef>
                          <a:spcPts val="800"/>
                        </a:spcBef>
                        <a:spcAft>
                          <a:spcPts val="0"/>
                        </a:spcAft>
                        <a:buSzPts val="1050"/>
                        <a:buFont typeface="Helvetica"/>
                        <a:buChar char="●"/>
                      </a:pPr>
                      <a:r>
                        <a:rPr lang="ja" sz="1050">
                          <a:solidFill>
                            <a:schemeClr val="dk1"/>
                          </a:solidFill>
                          <a:latin typeface="Helvetica"/>
                          <a:ea typeface="Helvetica"/>
                          <a:cs typeface="Helvetica"/>
                          <a:sym typeface="Helvetica"/>
                        </a:rPr>
                        <a:t>ドンデコルテ スペシャル漫才ステージ</a:t>
                      </a:r>
                      <a:endParaRPr sz="1050">
                        <a:solidFill>
                          <a:schemeClr val="dk1"/>
                        </a:solidFill>
                        <a:latin typeface="Helvetica"/>
                        <a:ea typeface="Helvetica"/>
                        <a:cs typeface="Helvetica"/>
                        <a:sym typeface="Helvetica"/>
                      </a:endParaRPr>
                    </a:p>
                    <a:p>
                      <a:pPr marL="457200" lvl="0" indent="-295275" algn="l" rtl="0">
                        <a:spcBef>
                          <a:spcPts val="800"/>
                        </a:spcBef>
                        <a:spcAft>
                          <a:spcPts val="0"/>
                        </a:spcAft>
                        <a:buSzPts val="1050"/>
                        <a:buFont typeface="Helvetica"/>
                        <a:buChar char="●"/>
                      </a:pPr>
                      <a:r>
                        <a:rPr lang="ja" sz="1050">
                          <a:solidFill>
                            <a:schemeClr val="dk1"/>
                          </a:solidFill>
                          <a:latin typeface="Helvetica"/>
                          <a:ea typeface="Helvetica"/>
                          <a:cs typeface="Helvetica"/>
                          <a:sym typeface="Helvetica"/>
                        </a:rPr>
                        <a:t>春季キャンプ&amp;2026年シーズンを語る！豪華トークショー</a:t>
                      </a:r>
                      <a:endParaRPr sz="1050">
                        <a:latin typeface="Helvetica"/>
                        <a:ea typeface="Helvetica"/>
                        <a:cs typeface="Helvetica"/>
                        <a:sym typeface="Helvetica"/>
                      </a:endParaRPr>
                    </a:p>
                    <a:p>
                      <a:pPr marL="0" lvl="0" indent="0" algn="l" rtl="0">
                        <a:spcBef>
                          <a:spcPts val="800"/>
                        </a:spcBef>
                        <a:spcAft>
                          <a:spcPts val="0"/>
                        </a:spcAft>
                        <a:buNone/>
                      </a:pPr>
                      <a:r>
                        <a:rPr lang="ja" sz="1050">
                          <a:latin typeface="Helvetica"/>
                          <a:ea typeface="Helvetica"/>
                          <a:cs typeface="Helvetica"/>
                          <a:sym typeface="Helvetica"/>
                        </a:rPr>
                        <a:t>（出演：ドンデコルテ（お笑い芸人）、相川七瀬さん（歌手）、森川智之さん（声優）、髙橋優斗さん（横浜バニラ株式会社CEO）、的場華鈴さん（虹のコンキスタドール）、相川亮二監督、平良拳太郎選手、宮城滝太選手、神里和毅選手）</a:t>
                      </a:r>
                      <a:endParaRPr sz="1050">
                        <a:latin typeface="Helvetica"/>
                        <a:ea typeface="Helvetica"/>
                        <a:cs typeface="Helvetica"/>
                        <a:sym typeface="Helvetica"/>
                      </a:endParaRPr>
                    </a:p>
                    <a:p>
                      <a:pPr marL="457200" lvl="0" indent="-295275" algn="l" rtl="0">
                        <a:spcBef>
                          <a:spcPts val="800"/>
                        </a:spcBef>
                        <a:spcAft>
                          <a:spcPts val="0"/>
                        </a:spcAft>
                        <a:buSzPts val="1050"/>
                        <a:buFont typeface="Helvetica"/>
                        <a:buChar char="●"/>
                      </a:pPr>
                      <a:r>
                        <a:rPr lang="ja" sz="1050">
                          <a:latin typeface="Helvetica"/>
                          <a:ea typeface="Helvetica"/>
                          <a:cs typeface="Helvetica"/>
                          <a:sym typeface="Helvetica"/>
                        </a:rPr>
                        <a:t>相川七瀬 スペシャルライブ</a:t>
                      </a:r>
                      <a:endParaRPr sz="1050">
                        <a:latin typeface="Helvetica"/>
                        <a:ea typeface="Helvetica"/>
                        <a:cs typeface="Helvetica"/>
                        <a:sym typeface="Helvetica"/>
                      </a:endParaRPr>
                    </a:p>
                  </a:txBody>
                  <a:tcPr marL="101600" marR="101600" marT="101600" marB="101600">
                    <a:lnL w="6350" cap="flat" cmpd="sng">
                      <a:solidFill>
                        <a:srgbClr val="E0E0E0"/>
                      </a:solidFill>
                      <a:prstDash val="solid"/>
                      <a:round/>
                      <a:headEnd type="none" w="sm" len="sm"/>
                      <a:tailEnd type="none" w="sm" len="sm"/>
                    </a:lnL>
                    <a:lnR w="6350" cap="flat" cmpd="sng">
                      <a:solidFill>
                        <a:srgbClr val="E0E0E0"/>
                      </a:solidFill>
                      <a:prstDash val="solid"/>
                      <a:round/>
                      <a:headEnd type="none" w="sm" len="sm"/>
                      <a:tailEnd type="none" w="sm" len="sm"/>
                    </a:lnR>
                    <a:lnT w="6350" cap="flat" cmpd="sng">
                      <a:solidFill>
                        <a:srgbClr val="E0E0E0"/>
                      </a:solidFill>
                      <a:prstDash val="solid"/>
                      <a:round/>
                      <a:headEnd type="none" w="sm" len="sm"/>
                      <a:tailEnd type="none" w="sm" len="sm"/>
                    </a:lnT>
                    <a:lnB w="6350" cap="flat" cmpd="sng">
                      <a:solidFill>
                        <a:srgbClr val="E0E0E0"/>
                      </a:solidFill>
                      <a:prstDash val="solid"/>
                      <a:round/>
                      <a:headEnd type="none" w="sm" len="sm"/>
                      <a:tailEnd type="none" w="sm" len="sm"/>
                    </a:lnB>
                    <a:noFill/>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271</Words>
  <Application>Microsoft Office PowerPoint</Application>
  <PresentationFormat>ユーザー設定</PresentationFormat>
  <Paragraphs>23</Paragraphs>
  <Slides>1</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Arial</vt:lpstr>
      <vt:lpstr>Helvetica</vt:lpstr>
      <vt:lpstr>Simple Light</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zxc5783</cp:lastModifiedBy>
  <cp:revision>1</cp:revision>
  <dcterms:modified xsi:type="dcterms:W3CDTF">2026-01-26T08:05:41Z</dcterms:modified>
</cp:coreProperties>
</file>